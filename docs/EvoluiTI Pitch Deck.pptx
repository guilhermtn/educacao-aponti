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Inter Light"/>
      <p:regular r:id="rId16"/>
      <p:bold r:id="rId17"/>
      <p:italic r:id="rId18"/>
      <p:boldItalic r:id="rId19"/>
    </p:embeddedFont>
    <p:embeddedFont>
      <p:font typeface="Inter SemiBold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0429798-797D-4E98-9532-45ABA052D3B2}">
  <a:tblStyle styleId="{90429798-797D-4E98-9532-45ABA052D3B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regular.fntdata"/><Relationship Id="rId22" Type="http://schemas.openxmlformats.org/officeDocument/2006/relationships/font" Target="fonts/InterSemiBold-italic.fntdata"/><Relationship Id="rId21" Type="http://schemas.openxmlformats.org/officeDocument/2006/relationships/font" Target="fonts/InterSemiBold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Inter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oppi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font" Target="fonts/InterLight-bold.fntdata"/><Relationship Id="rId39" Type="http://schemas.openxmlformats.org/officeDocument/2006/relationships/font" Target="fonts/InterMedium-boldItalic.fntdata"/><Relationship Id="rId16" Type="http://schemas.openxmlformats.org/officeDocument/2006/relationships/font" Target="fonts/InterLight-regular.fntdata"/><Relationship Id="rId38" Type="http://schemas.openxmlformats.org/officeDocument/2006/relationships/font" Target="fonts/InterMedium-italic.fntdata"/><Relationship Id="rId19" Type="http://schemas.openxmlformats.org/officeDocument/2006/relationships/font" Target="fonts/InterLight-boldItalic.fntdata"/><Relationship Id="rId18" Type="http://schemas.openxmlformats.org/officeDocument/2006/relationships/font" Target="fonts/Inter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3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Relationship Id="rId7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370040"/>
            <a:ext cx="10648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771525" y="1535459"/>
            <a:ext cx="666750" cy="4762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1821209"/>
            <a:ext cx="1064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Evolui</a:t>
            </a:r>
            <a:r>
              <a:rPr b="1" i="1" lang="en-US" sz="2400" u="none" cap="none" strike="noStrike">
                <a:solidFill>
                  <a:srgbClr val="00D2FF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2373659"/>
            <a:ext cx="11181397" cy="79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Aceleração de </a:t>
            </a:r>
            <a:r>
              <a:rPr b="1" i="0" lang="en-US" sz="5700" u="none" cap="none" strike="noStrike">
                <a:solidFill>
                  <a:srgbClr val="00D2FF"/>
                </a:solidFill>
                <a:latin typeface="Poppins"/>
                <a:ea typeface="Poppins"/>
                <a:cs typeface="Poppins"/>
                <a:sym typeface="Poppins"/>
              </a:rPr>
              <a:t>Talentos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3312765"/>
            <a:ext cx="106489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Portal colaborativo de mentoria sob demanda para reter e apoiar estudantes no ensino superior de computação.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4617690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INTEGRANTES DO PROJETO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71525" y="4865340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José Guilherme • Alex Lopes • Thyago Antonio • Francisco Lucas • Nikolas Martins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0" y="4617690"/>
            <a:ext cx="53244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APRESENTAÇÃO DO PITCH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096000" y="4865340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D2FF"/>
                </a:solidFill>
                <a:latin typeface="Inter Medium"/>
                <a:ea typeface="Inter Medium"/>
                <a:cs typeface="Inter Medium"/>
                <a:sym typeface="Inter Medium"/>
              </a:rPr>
              <a:t>Junho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670" y="2080170"/>
            <a:ext cx="4577804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A Necessidade: </a:t>
            </a:r>
            <a:r>
              <a:rPr b="0" i="0" lang="en-US" sz="2850" u="none" cap="none" strike="noStrike">
                <a:solidFill>
                  <a:srgbClr val="00D2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Abismo Acadêmico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771525" y="2256383"/>
            <a:ext cx="559489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Disciplinas de lógica e introdução à programação representam a barreira mais hostil para ingressantes em computação.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2195" y="2089695"/>
            <a:ext cx="4558754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04900" y="2961233"/>
            <a:ext cx="52615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Frustração Imediata: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Conceitos abstratos complexos carecem de suporte síncrono e direcionado na hora da dúvida.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04900" y="3666083"/>
            <a:ext cx="52615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Evasão Precoce: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Universitários abandonam a área nos primeiros semestres por falta de suporte rápido.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04900" y="4370933"/>
            <a:ext cx="526152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Compromisso ONU: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Alinhado diretamente com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ODS 4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(Educação de Qualidade) e a </a:t>
            </a: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ODS 8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(Trabalho Decente via Qualificação).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9945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6994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4042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12515"/>
            <a:ext cx="10648950" cy="49644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Prova Social: </a:t>
            </a:r>
            <a:r>
              <a:rPr b="0" i="0" lang="en-US" sz="2850" u="none" cap="none" strike="noStrike">
                <a:solidFill>
                  <a:srgbClr val="00D2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 Evasão em Números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4882901"/>
            <a:ext cx="10648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Fonte: Estatísticas oficiais de trancamento e reprovação em introdução ao desenvolvimento lógico universitário.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71898"/>
            <a:ext cx="3390900" cy="2445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0550" y="2571898"/>
            <a:ext cx="3390900" cy="2445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9575" y="2571898"/>
            <a:ext cx="3390900" cy="2445543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Abordagem: </a:t>
            </a:r>
            <a:r>
              <a:rPr b="0" i="0" lang="en-US" sz="2850" u="none" cap="none" strike="noStrike">
                <a:solidFill>
                  <a:srgbClr val="00D2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Fluxo de Mentoria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066800" y="3524398"/>
            <a:ext cx="294036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Postagem ágil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66800" y="3869084"/>
            <a:ext cx="28003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 estudante posta seu erro lógico ou desafio estruturado de programação em segundos.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95825" y="3524398"/>
            <a:ext cx="294036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Matching Inteligente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4695825" y="3869084"/>
            <a:ext cx="280035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Veteranos de TI ou especialistas do mercado aceitam instantaneamente a demanda compatível.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324850" y="3524398"/>
            <a:ext cx="294036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Conexão Síncrona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324850" y="3869084"/>
            <a:ext cx="280035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Ambiente em tempo real com videochamada integrada, editor colaborativo de código e quadro interativo.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90527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5825" y="290527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4850" y="2905273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Abordagem: </a:t>
            </a:r>
            <a:r>
              <a:rPr b="0" i="0" lang="en-US" sz="2850" u="none" cap="none" strike="noStrike">
                <a:solidFill>
                  <a:srgbClr val="00D2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Stack Tecnológica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71525" y="2575470"/>
            <a:ext cx="10648950" cy="2533650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17"/>
          <p:cNvGraphicFramePr/>
          <p:nvPr/>
        </p:nvGraphicFramePr>
        <p:xfrm>
          <a:off x="771525" y="25754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{90429798-797D-4E98-9532-45ABA052D3B2}</a:tableStyleId>
              </a:tblPr>
              <a:tblGrid>
                <a:gridCol w="1788475"/>
                <a:gridCol w="2252075"/>
                <a:gridCol w="6598900"/>
              </a:tblGrid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D2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Camada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D2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Tecnologias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2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D2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Finalidade Estratégica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D2FF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Frontend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 + Next.js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Interface dinâmica de alta reatividade com foco em UX intuitiva.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Tempo Real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WebRTC + WebSockets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Transmissão de áudio, vídeo e alteração de código com ultra-baixa latência.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Backend &amp; Cache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Node.js + Redis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Gerenciamento veloz de sessões síncronas e roteamento eficiente de conexões.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Infraestrutura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PostgreSQL + AWS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Banco relacional para trilhas e hospedagem elástica escalonável.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17"/>
          <p:cNvSpPr/>
          <p:nvPr/>
        </p:nvSpPr>
        <p:spPr>
          <a:xfrm>
            <a:off x="776287" y="3075533"/>
            <a:ext cx="1788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564755" y="3075533"/>
            <a:ext cx="22520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816822" y="3075533"/>
            <a:ext cx="65988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76287" y="3580358"/>
            <a:ext cx="1788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564755" y="3580358"/>
            <a:ext cx="22520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4816822" y="3580358"/>
            <a:ext cx="65988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76287" y="4085183"/>
            <a:ext cx="1788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564755" y="4085183"/>
            <a:ext cx="22520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4816822" y="4085183"/>
            <a:ext cx="65988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76287" y="4590008"/>
            <a:ext cx="17884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564755" y="4590008"/>
            <a:ext cx="225206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4816822" y="4590008"/>
            <a:ext cx="659889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63378"/>
            <a:ext cx="5594895" cy="30625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2670" y="2263378"/>
            <a:ext cx="4577804" cy="306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Os Benefícios: </a:t>
            </a:r>
            <a:r>
              <a:rPr b="0" i="0" lang="en-US" sz="2850" u="none" cap="none" strike="noStrike">
                <a:solidFill>
                  <a:srgbClr val="00D2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Impacto Multilateral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1066800" y="3215878"/>
            <a:ext cx="5254562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Estudantes e Sociedade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66800" y="3560564"/>
            <a:ext cx="500434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Aprendizado prático direcionado, erradicando a frustração inicial em TI.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66800" y="4082355"/>
            <a:ext cx="500434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Democratização do acesso a mentores qualificados sem restrição de renda.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066800" y="4604146"/>
            <a:ext cx="500434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Inserção acelerada de programadores confiantes e capacitados no ecossistema tech nacional.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137945" y="3215878"/>
            <a:ext cx="4186617" cy="230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as Instituições de Ensino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137945" y="3560564"/>
            <a:ext cx="398725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Queda vertiginosa nas taxas de evasão precoce nos primeiros períodos acadêmicos.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137945" y="4082355"/>
            <a:ext cx="398725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Otimização do uso de recursos docentes por meio do suporte assíncrono entre pares.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137945" y="4604146"/>
            <a:ext cx="3987254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 Fortalecimento de métricas e indicadores institucionais com a retenção de talentos.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66800" y="259675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37945" y="2596753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670" y="2080170"/>
            <a:ext cx="4577804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6. Diferenciais: </a:t>
            </a:r>
            <a:r>
              <a:rPr b="0" i="0" lang="en-US" sz="2850" u="none" cap="none" strike="noStrike">
                <a:solidFill>
                  <a:srgbClr val="00D2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 Custo-Benefício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771525" y="2256383"/>
            <a:ext cx="559489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 EvoluiTI corrige as lacunas críticas que as abordagens atuais de suporte ignoram:</a:t>
            </a:r>
            <a:endParaRPr/>
          </a:p>
        </p:txBody>
      </p:sp>
      <p:pic>
        <p:nvPicPr>
          <p:cNvPr descr="image.png" id="187" name="Google Shape;18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2195" y="2089695"/>
            <a:ext cx="4558754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1104900" y="2961233"/>
            <a:ext cx="52615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Cursos Gravados Tradicionais: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Monótonos e sem feedback em tempo real para erros de compilação específicos.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104900" y="3666083"/>
            <a:ext cx="526152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Assistentes de IA Puros: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Entregam a resposta sem explicar o raciocínio, gerando dependência lógica em vez de aprendizado.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104900" y="4370933"/>
            <a:ext cx="526152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 Diferencial EvoluiTI: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Suporte humano sob demanda focado no erro exato do estudante, garantindo aprendizado ativo por uma fração do custo de monitorias privadas.</a:t>
            </a:r>
            <a:endParaRPr/>
          </a:p>
        </p:txBody>
      </p:sp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299457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9942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40427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38537" y="3310830"/>
            <a:ext cx="5114925" cy="69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4482405"/>
            <a:ext cx="857250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771525" y="1327844"/>
            <a:ext cx="106489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Evolui</a:t>
            </a:r>
            <a:r>
              <a:rPr b="1" i="1" lang="en-US" sz="3150" u="none" cap="none" strike="noStrike">
                <a:solidFill>
                  <a:srgbClr val="00D2FF"/>
                </a:solidFill>
                <a:latin typeface="Poppins"/>
                <a:ea typeface="Poppins"/>
                <a:cs typeface="Poppins"/>
                <a:sym typeface="Poppins"/>
              </a:rPr>
              <a:t>TI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05301" y="2023169"/>
            <a:ext cx="111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Obrigado pela sua atenção!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71525" y="2710755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 Light"/>
                <a:ea typeface="Inter Light"/>
                <a:cs typeface="Inter Light"/>
                <a:sym typeface="Inter Light"/>
              </a:rPr>
              <a:t>Conectando quem quer crescer na programação com quem domina o caminho.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3929062" y="3529905"/>
            <a:ext cx="43338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D2FF"/>
                </a:solidFill>
                <a:latin typeface="Inter"/>
                <a:ea typeface="Inter"/>
                <a:cs typeface="Inter"/>
                <a:sym typeface="Inter"/>
              </a:rPr>
              <a:t>contato@evoluiti.com.br  |  www.evoluiti.com.br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1809750" y="4730055"/>
            <a:ext cx="85725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COMPONENTES DO GRUPO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1809750" y="5011042"/>
            <a:ext cx="85725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José Guilherme • Alex Lopes • Thyago Antonio • Francisco Lucas • Nikolas Martins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1809750" y="5330130"/>
            <a:ext cx="857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0D2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Junho de 2026</a:t>
            </a:r>
            <a:endParaRPr/>
          </a:p>
        </p:txBody>
      </p:sp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29062" y="357753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76987" y="3577530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D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962025" y="581025"/>
            <a:ext cx="10981372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771525" y="581025"/>
            <a:ext cx="57150" cy="398115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71525" y="2856458"/>
            <a:ext cx="106489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771525" y="3789908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71525" y="3789908"/>
            <a:ext cx="10648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08505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1866900" y="2999333"/>
            <a:ext cx="9553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https://algocademy.com/blog/wp-content/uploads/2024/09/DALL%C2%B7E-2024-09-10-22.54.28-A-thought-provoking-image-showing-a-frustrated-coding-student-surrounded-by-lines-of-complex-code-textbooks-and-a-computer-screen.-The-student-appea.webp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1866900" y="3418433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algocademy.com</a:t>
            </a:r>
            <a:endParaRPr/>
          </a:p>
        </p:txBody>
      </p:sp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0280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866900" y="3942308"/>
            <a:ext cx="955357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https://media2.dev.to/dynamic/image/width=1000,height=420,fit=cover,gravity=auto,format=auto/https%3A%2F%2Fdev-to-uploads.s3.amazonaws.com%2Fuploads%2Farticles%2F2f4bctdi97brspeo1fo7.png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866900" y="4361408"/>
            <a:ext cx="95535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dev.to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